
<file path=[Content_Types].xml><?xml version="1.0" encoding="utf-8"?>
<Types xmlns="http://schemas.openxmlformats.org/package/2006/content-types">
  <Default Extension="jfif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4"/>
  </p:notesMasterIdLst>
  <p:handoutMasterIdLst>
    <p:handoutMasterId r:id="rId25"/>
  </p:handoutMasterIdLst>
  <p:sldIdLst>
    <p:sldId id="338" r:id="rId5"/>
    <p:sldId id="327" r:id="rId6"/>
    <p:sldId id="349" r:id="rId7"/>
    <p:sldId id="315" r:id="rId8"/>
    <p:sldId id="329" r:id="rId9"/>
    <p:sldId id="302" r:id="rId10"/>
    <p:sldId id="347" r:id="rId11"/>
    <p:sldId id="351" r:id="rId12"/>
    <p:sldId id="339" r:id="rId13"/>
    <p:sldId id="340" r:id="rId14"/>
    <p:sldId id="344" r:id="rId15"/>
    <p:sldId id="345" r:id="rId16"/>
    <p:sldId id="346" r:id="rId17"/>
    <p:sldId id="350" r:id="rId18"/>
    <p:sldId id="341" r:id="rId19"/>
    <p:sldId id="348" r:id="rId20"/>
    <p:sldId id="342" r:id="rId21"/>
    <p:sldId id="343" r:id="rId22"/>
    <p:sldId id="304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B1DE9-3BBC-E82E-6FE7-4960D51AF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D0BCB5-F4E6-734E-E168-26B40F43B4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E9503D-5099-004E-1866-04375ABFA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C887A2-24F3-2A14-289E-BEAA33E84C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343322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27B31-767F-9374-9DD4-CD7881085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584057-44C0-5945-2061-35192CE82D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45FB29-9F09-9220-52FB-AE64786558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61B4D0-8B80-41C8-B7B5-AFE2922D11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89462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9/10/2026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5957" y="3557060"/>
            <a:ext cx="8663986" cy="86149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0" dirty="0">
                <a:solidFill>
                  <a:schemeClr val="tx1"/>
                </a:solidFill>
              </a:rPr>
              <a:t>[Student Name-Repalle Gnaneswar </a:t>
            </a:r>
            <a:endParaRPr lang="en-IN" sz="2400" b="0" dirty="0">
              <a:solidFill>
                <a:schemeClr val="tx1"/>
              </a:solidFill>
            </a:endParaRPr>
          </a:p>
          <a:p>
            <a:r>
              <a:rPr lang="en-US" sz="2400" b="0" dirty="0">
                <a:solidFill>
                  <a:schemeClr val="tx1"/>
                </a:solidFill>
              </a:rPr>
              <a:t>College Name-Amrita Vishwa Vidyapeetham, Bengaluru]</a:t>
            </a:r>
            <a:endParaRPr lang="en-IN" sz="2400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3" y="2844750"/>
            <a:ext cx="9883889" cy="743448"/>
          </a:xfrm>
        </p:spPr>
        <p:txBody>
          <a:bodyPr>
            <a:normAutofit fontScale="90000"/>
          </a:bodyPr>
          <a:lstStyle/>
          <a:p>
            <a:r>
              <a:rPr lang="en-GB" sz="3000" b="1" dirty="0"/>
              <a:t>Project Title - Seasonal Agriculture Performance Analysis </a:t>
            </a:r>
            <a:endParaRPr lang="en-IN" sz="3000" b="1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675957" y="4557808"/>
            <a:ext cx="71617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AICTE STU ID : </a:t>
            </a:r>
            <a:r>
              <a:rPr lang="en-IN" sz="2000" b="1" dirty="0"/>
              <a:t>STU6a6c86017de091785497089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8137" y="1340528"/>
            <a:ext cx="7588533" cy="5324432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900" dirty="0"/>
              <a:t>Agricultural activities are influenced by seasonal variations in environmental conditions, farming practices, resource availability and market conditions. As a result, agricultural performance may differ from one season to another. </a:t>
            </a:r>
          </a:p>
          <a:p>
            <a:pPr>
              <a:lnSpc>
                <a:spcPct val="150000"/>
              </a:lnSpc>
            </a:pPr>
            <a:r>
              <a:rPr lang="en-US" sz="1900" dirty="0"/>
              <a:t>However, raw agricultural data does not clearly explain how agricultural performance changes across seasons or what patterns can be observed in different seasonal conditions.</a:t>
            </a:r>
          </a:p>
          <a:p>
            <a:pPr>
              <a:lnSpc>
                <a:spcPct val="150000"/>
              </a:lnSpc>
            </a:pPr>
            <a:r>
              <a:rPr lang="en-US" sz="1900" dirty="0"/>
              <a:t>The problem is to analyze the given agricultural dataset and investigate seasonal differences in agricultural performance by identifying meaningful patterns, trends, relationships and variations within the available data. </a:t>
            </a:r>
            <a:endParaRPr lang="en-IN" sz="19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7B8C52-DFC8-0CCE-F3B2-A0136658F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100234-1CDE-9402-40B9-7351BA0ED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480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F494F9-9F7C-6B8C-60B6-1139372F7E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CCEAC4-9ECE-06DD-D722-119323AD8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C52A014F-7BE8-EC29-E2C7-B21AEF0BD3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1274" y="1147488"/>
            <a:ext cx="8787371" cy="551747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Seasonal Agriculture Performance Analysis</a:t>
            </a:r>
            <a:r>
              <a:rPr lang="en-IN" sz="2400" dirty="0"/>
              <a:t> is a data analytics project that studies how agricultural performance changes across </a:t>
            </a:r>
            <a:r>
              <a:rPr lang="en-IN" sz="2400" b="1" dirty="0"/>
              <a:t>Kharif, Rabi, and Zaid seasons</a:t>
            </a:r>
            <a:r>
              <a:rPr lang="en-IN" sz="2400" dirty="0"/>
              <a:t>. The project </a:t>
            </a:r>
            <a:r>
              <a:rPr lang="en-IN" sz="2400" dirty="0" err="1"/>
              <a:t>analyzes</a:t>
            </a:r>
            <a:r>
              <a:rPr lang="en-IN" sz="2400" dirty="0"/>
              <a:t> factors such as crop yield, rainfall, temperature, water consumption, irrigation methods, operating cost, profit, and resource utilization to identify important seasonal patterns and relationships.</a:t>
            </a:r>
          </a:p>
          <a:p>
            <a:pPr marL="0" indent="0">
              <a:buNone/>
            </a:pP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The project involves </a:t>
            </a:r>
            <a:r>
              <a:rPr lang="en-IN" sz="2400" b="1" dirty="0"/>
              <a:t>data cleaning and preprocessing, exploratory data analysis, statistical hypothesis testing, seasonal comparison, regional and crop-level analysis, outlier/anomaly detection, data visualization, and evidence-based recommendations</a:t>
            </a:r>
            <a:r>
              <a:rPr lang="en-IN" sz="2400" dirty="0"/>
              <a:t>.</a:t>
            </a:r>
            <a:r>
              <a:rPr lang="en-US" sz="2400" dirty="0"/>
              <a:t>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797254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480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217527E6-B4C4-74A1-7F9B-59BEDFB93C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8261" y="1290475"/>
            <a:ext cx="7266481" cy="386305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The analysis identifies how environmental conditions and farming practices influence agricultural productivity, profitability, and water efficiency. Statistical techniques such as </a:t>
            </a:r>
            <a:r>
              <a:rPr lang="en-IN" sz="2400" b="1" dirty="0"/>
              <a:t>ANOVA, Kruskal-Wallis, post-hoc tests, effect-size analysis, and interaction testing</a:t>
            </a:r>
            <a:r>
              <a:rPr lang="en-IN" sz="2400" dirty="0"/>
              <a:t> are used to validate the observed differences. The final outcome is a set of </a:t>
            </a:r>
            <a:r>
              <a:rPr lang="en-IN" sz="2400" b="1" dirty="0"/>
              <a:t>data-driven insights and recommendations for better seasonal agricultural planning</a:t>
            </a:r>
            <a:r>
              <a:rPr lang="en-IN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0008" y="2041071"/>
            <a:ext cx="7904481" cy="4135733"/>
          </a:xfrm>
        </p:spPr>
        <p:txBody>
          <a:bodyPr>
            <a:normAutofit fontScale="55000" lnSpcReduction="20000"/>
          </a:bodyPr>
          <a:lstStyle/>
          <a:p>
            <a:pPr lvl="0"/>
            <a:r>
              <a:rPr lang="en-IN" sz="3600" b="1" dirty="0"/>
              <a:t>Farmers</a:t>
            </a:r>
            <a:r>
              <a:rPr lang="en-IN" sz="3600" dirty="0"/>
              <a:t> – To select suitable crops, irrigation methods, and farming practices for different seasons.</a:t>
            </a:r>
          </a:p>
          <a:p>
            <a:pPr lvl="0"/>
            <a:r>
              <a:rPr lang="en-IN" sz="3600" b="1" dirty="0"/>
              <a:t>Agricultural Planners and Agronomists</a:t>
            </a:r>
            <a:r>
              <a:rPr lang="en-IN" sz="3600" dirty="0"/>
              <a:t> – To understand seasonal productivity and crop-specific patterns.</a:t>
            </a:r>
          </a:p>
          <a:p>
            <a:pPr lvl="0"/>
            <a:r>
              <a:rPr lang="en-IN" sz="3600" b="1" dirty="0"/>
              <a:t>Government and Agricultural Departments</a:t>
            </a:r>
            <a:r>
              <a:rPr lang="en-IN" sz="3600" dirty="0"/>
              <a:t> – To support evidence-based agricultural policies and seasonal planning.</a:t>
            </a:r>
          </a:p>
          <a:p>
            <a:pPr lvl="0"/>
            <a:r>
              <a:rPr lang="en-IN" sz="3600" b="1" dirty="0"/>
              <a:t>Water Resource Managers</a:t>
            </a:r>
            <a:r>
              <a:rPr lang="en-IN" sz="3600" dirty="0"/>
              <a:t> – To monitor seasonal water consumption and improve irrigation efficiency.</a:t>
            </a:r>
          </a:p>
          <a:p>
            <a:pPr lvl="0"/>
            <a:r>
              <a:rPr lang="en-IN" sz="3600" b="1" dirty="0"/>
              <a:t>Agricultural Researchers</a:t>
            </a:r>
            <a:r>
              <a:rPr lang="en-IN" sz="3600" dirty="0"/>
              <a:t> – To study relationships between environmental conditions, farming practices, and crop performance.</a:t>
            </a:r>
          </a:p>
          <a:p>
            <a:pPr lvl="0"/>
            <a:r>
              <a:rPr lang="en-IN" sz="3600" b="1" dirty="0"/>
              <a:t>Agri-businesses and Cooperatives</a:t>
            </a:r>
            <a:r>
              <a:rPr lang="en-IN" sz="3600" dirty="0"/>
              <a:t> – To evaluate production costs, profitability, and seasonal opportunities.</a:t>
            </a:r>
          </a:p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94559" y="1278384"/>
            <a:ext cx="6417597" cy="552807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200" b="1" dirty="0"/>
              <a:t>Programming and Development</a:t>
            </a:r>
          </a:p>
          <a:p>
            <a:pPr lvl="0"/>
            <a:r>
              <a:rPr lang="en-IN" sz="2200" dirty="0"/>
              <a:t>Python</a:t>
            </a:r>
          </a:p>
          <a:p>
            <a:pPr lvl="0"/>
            <a:r>
              <a:rPr lang="en-IN" sz="2200" dirty="0"/>
              <a:t>Jupyter Notebook</a:t>
            </a:r>
          </a:p>
          <a:p>
            <a:pPr marL="0" indent="0">
              <a:buNone/>
            </a:pPr>
            <a:r>
              <a:rPr lang="en-IN" sz="2200" b="1" dirty="0"/>
              <a:t>Data Analysis</a:t>
            </a:r>
          </a:p>
          <a:p>
            <a:pPr lvl="0"/>
            <a:r>
              <a:rPr lang="en-IN" sz="2200" dirty="0"/>
              <a:t>Pandas</a:t>
            </a:r>
          </a:p>
          <a:p>
            <a:pPr lvl="0"/>
            <a:r>
              <a:rPr lang="en-IN" sz="2200" dirty="0"/>
              <a:t>NumPy</a:t>
            </a:r>
          </a:p>
          <a:p>
            <a:pPr marL="0" indent="0">
              <a:buNone/>
            </a:pPr>
            <a:r>
              <a:rPr lang="en-IN" sz="2200" b="1" dirty="0"/>
              <a:t>Data Visualization</a:t>
            </a:r>
          </a:p>
          <a:p>
            <a:pPr lvl="0"/>
            <a:r>
              <a:rPr lang="en-IN" sz="2200" dirty="0"/>
              <a:t>Matplotlib</a:t>
            </a:r>
          </a:p>
          <a:p>
            <a:pPr lvl="0"/>
            <a:r>
              <a:rPr lang="en-IN" sz="2200" dirty="0"/>
              <a:t>Seaborn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BAB1DE-3AF0-8A42-B8B1-9AEC94E6C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6BEBBF9-9C6D-0579-4DFA-E6A85356D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17BC020-790C-2A97-0DB9-3550C00C49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24BAF9-76D4-98E8-D5C4-573E463A15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65844" y="1278384"/>
            <a:ext cx="6018524" cy="5428169"/>
          </a:xfrm>
        </p:spPr>
        <p:txBody>
          <a:bodyPr numCol="2">
            <a:noAutofit/>
          </a:bodyPr>
          <a:lstStyle/>
          <a:p>
            <a:pPr marL="0" indent="0">
              <a:buNone/>
            </a:pPr>
            <a:r>
              <a:rPr lang="en-IN" b="1" dirty="0"/>
              <a:t>Statistical Analysis</a:t>
            </a:r>
          </a:p>
          <a:p>
            <a:pPr lvl="0"/>
            <a:r>
              <a:rPr lang="en-IN" dirty="0"/>
              <a:t>SciPy</a:t>
            </a:r>
          </a:p>
          <a:p>
            <a:pPr lvl="0"/>
            <a:r>
              <a:rPr lang="en-IN" dirty="0"/>
              <a:t>Statistical models</a:t>
            </a:r>
          </a:p>
          <a:p>
            <a:pPr lvl="0"/>
            <a:r>
              <a:rPr lang="en-IN" dirty="0"/>
              <a:t>ANOVA</a:t>
            </a:r>
          </a:p>
          <a:p>
            <a:pPr lvl="0"/>
            <a:r>
              <a:rPr lang="en-IN" dirty="0"/>
              <a:t>Kruskal-Wallis Test</a:t>
            </a:r>
          </a:p>
          <a:p>
            <a:pPr lvl="0"/>
            <a:r>
              <a:rPr lang="en-IN" dirty="0"/>
              <a:t>Tukey HSD</a:t>
            </a:r>
          </a:p>
          <a:p>
            <a:pPr lvl="0"/>
            <a:r>
              <a:rPr lang="en-IN" dirty="0"/>
              <a:t>Mann-Whitney U Test</a:t>
            </a:r>
          </a:p>
          <a:p>
            <a:pPr lvl="0"/>
            <a:r>
              <a:rPr lang="en-IN" dirty="0"/>
              <a:t>Effect Size Analysis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92050495-B8B0-CD8D-DE42-BD5E3941B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273649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7F883C-18D9-C429-42FE-B753DF69F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E2B63A9-2DF7-8161-7121-C5B56D125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C4F1DFB-84E1-A9F9-8C1A-382375BC8F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B2F90B0-C69F-1477-4978-62D9B22F4F9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65843" y="1278384"/>
            <a:ext cx="8341847" cy="5428169"/>
          </a:xfrm>
        </p:spPr>
        <p:txBody>
          <a:bodyPr numCol="2">
            <a:noAutofit/>
          </a:bodyPr>
          <a:lstStyle/>
          <a:p>
            <a:pPr marL="0" lvl="0" indent="0">
              <a:buNone/>
            </a:pPr>
            <a:r>
              <a:rPr lang="en-IN" b="1" dirty="0"/>
              <a:t>Data Processing</a:t>
            </a:r>
          </a:p>
          <a:p>
            <a:pPr lvl="0"/>
            <a:r>
              <a:rPr lang="en-IN" dirty="0"/>
              <a:t>Data Cleaning and Preprocessing</a:t>
            </a:r>
          </a:p>
          <a:p>
            <a:pPr lvl="0"/>
            <a:r>
              <a:rPr lang="en-IN" dirty="0"/>
              <a:t>Feature Engineering</a:t>
            </a:r>
          </a:p>
          <a:p>
            <a:pPr lvl="0"/>
            <a:r>
              <a:rPr lang="en-IN" dirty="0"/>
              <a:t>Outlier Detection using IQR and Modified Z-Score</a:t>
            </a:r>
          </a:p>
          <a:p>
            <a:pPr marL="0" indent="0">
              <a:buNone/>
            </a:pPr>
            <a:r>
              <a:rPr lang="en-IN" b="1" dirty="0"/>
              <a:t>Dataset</a:t>
            </a:r>
          </a:p>
          <a:p>
            <a:pPr lvl="0"/>
            <a:r>
              <a:rPr lang="en-IN" dirty="0"/>
              <a:t>Seasonal agricultural data containing crop, environmental, resource, production, and economic attributes.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85B3418-CFAA-462A-DDE2-12DBF1E44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729803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FACD1C-ECAC-6FCC-4EBD-A40BD42F0D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r="49118" b="50000"/>
          <a:stretch>
            <a:fillRect/>
          </a:stretch>
        </p:blipFill>
        <p:spPr>
          <a:xfrm>
            <a:off x="340984" y="1366936"/>
            <a:ext cx="4398968" cy="44553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1A3287-6633-BE0B-E8B6-8A75FF2164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910" t="49910"/>
          <a:stretch>
            <a:fillRect/>
          </a:stretch>
        </p:blipFill>
        <p:spPr>
          <a:xfrm>
            <a:off x="5290457" y="1371601"/>
            <a:ext cx="4571999" cy="450202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A297C16-E98D-1D68-8FDC-931E0600D664}"/>
              </a:ext>
            </a:extLst>
          </p:cNvPr>
          <p:cNvSpPr txBox="1"/>
          <p:nvPr/>
        </p:nvSpPr>
        <p:spPr>
          <a:xfrm>
            <a:off x="675956" y="5822304"/>
            <a:ext cx="40639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Box plot of Yield (Tonnes/Ha) across Kharif, Rabi, and Zaid seasons showing extreme high-value outliers.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D10AA4-2504-6587-2DBB-70D96021C1A6}"/>
              </a:ext>
            </a:extLst>
          </p:cNvPr>
          <p:cNvSpPr txBox="1"/>
          <p:nvPr/>
        </p:nvSpPr>
        <p:spPr>
          <a:xfrm>
            <a:off x="5290457" y="5822304"/>
            <a:ext cx="4571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Violin plot of Net Profit (INR) across seasons highlighting distribution density and a red dashed break-even line (0 INR).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DCBA495-6A60-126C-95E3-D6C64882C4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5494" b="50092"/>
          <a:stretch>
            <a:fillRect/>
          </a:stretch>
        </p:blipFill>
        <p:spPr>
          <a:xfrm>
            <a:off x="341358" y="1539473"/>
            <a:ext cx="4502021" cy="411487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3AD0B17-18D9-6090-3E04-BEAE2629A8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996" r="32662" b="50092"/>
          <a:stretch>
            <a:fillRect/>
          </a:stretch>
        </p:blipFill>
        <p:spPr>
          <a:xfrm>
            <a:off x="5141933" y="1539473"/>
            <a:ext cx="4413380" cy="411487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04A0BFC-9583-C368-8F55-19AFC5F83327}"/>
              </a:ext>
            </a:extLst>
          </p:cNvPr>
          <p:cNvSpPr txBox="1"/>
          <p:nvPr/>
        </p:nvSpPr>
        <p:spPr>
          <a:xfrm>
            <a:off x="675957" y="5728997"/>
            <a:ext cx="40424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Box plot of Seasonal Rainfall (mm) showing median, interquartile range (IQR), and mean markers.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50CE3B-00FC-9760-5FC7-EFD2978A333D}"/>
              </a:ext>
            </a:extLst>
          </p:cNvPr>
          <p:cNvSpPr txBox="1"/>
          <p:nvPr/>
        </p:nvSpPr>
        <p:spPr>
          <a:xfrm>
            <a:off x="5219785" y="5728997"/>
            <a:ext cx="42576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Box plot of Seasonal Average Temperature (°C) across Kharif, Rabi, and Zaid.</a:t>
            </a:r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3498B0-7136-C0B3-AA5E-34D98CB4D5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r="66310"/>
          <a:stretch>
            <a:fillRect/>
          </a:stretch>
        </p:blipFill>
        <p:spPr>
          <a:xfrm>
            <a:off x="143046" y="1517661"/>
            <a:ext cx="4516094" cy="41728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286C03-6EDE-A38F-4092-125CB9A518C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910" b="50090"/>
          <a:stretch>
            <a:fillRect/>
          </a:stretch>
        </p:blipFill>
        <p:spPr>
          <a:xfrm>
            <a:off x="5340291" y="1571517"/>
            <a:ext cx="4268754" cy="406513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CED1D08-B62F-83C0-8EE2-D43CCC796C44}"/>
              </a:ext>
            </a:extLst>
          </p:cNvPr>
          <p:cNvSpPr txBox="1"/>
          <p:nvPr/>
        </p:nvSpPr>
        <p:spPr>
          <a:xfrm>
            <a:off x="531845" y="5741630"/>
            <a:ext cx="41272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Bar chart showing Mean Water Consumed per Farm (m³) across Kharif, Rabi, and Zaid.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3A20CD-ED70-16F1-E321-2795373D99E7}"/>
              </a:ext>
            </a:extLst>
          </p:cNvPr>
          <p:cNvSpPr txBox="1"/>
          <p:nvPr/>
        </p:nvSpPr>
        <p:spPr>
          <a:xfrm>
            <a:off x="5340291" y="5741630"/>
            <a:ext cx="42687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Scatter plot and non-linear regression curve for Water Volume (m³) vs. Water Efficiency (t / 1,000m³).</a:t>
            </a:r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860C90-6709-4A4B-B32E-76AB2CED31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506" r="33385"/>
          <a:stretch>
            <a:fillRect/>
          </a:stretch>
        </p:blipFill>
        <p:spPr>
          <a:xfrm>
            <a:off x="302312" y="1275371"/>
            <a:ext cx="4297671" cy="45655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F6FA81-BCB3-58F3-DEA7-5FA8CE62E6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0917"/>
          <a:stretch>
            <a:fillRect/>
          </a:stretch>
        </p:blipFill>
        <p:spPr>
          <a:xfrm>
            <a:off x="4940559" y="1398129"/>
            <a:ext cx="4931229" cy="432007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FE49E16-51DF-53C4-55D9-9417E9B886DE}"/>
              </a:ext>
            </a:extLst>
          </p:cNvPr>
          <p:cNvSpPr txBox="1"/>
          <p:nvPr/>
        </p:nvSpPr>
        <p:spPr>
          <a:xfrm>
            <a:off x="675958" y="5718203"/>
            <a:ext cx="39240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Bar chart illustrating the percentage of loss-making farms (Profit &lt; 0) across seasons.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AAEF2B-120A-56DF-4A0F-0D4E1612B092}"/>
              </a:ext>
            </a:extLst>
          </p:cNvPr>
          <p:cNvSpPr txBox="1"/>
          <p:nvPr/>
        </p:nvSpPr>
        <p:spPr>
          <a:xfrm>
            <a:off x="5248275" y="5762826"/>
            <a:ext cx="39240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State × Season interaction heatmap displaying mean agricultural yields (t/ha).</a:t>
            </a:r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712388-F321-BC92-0EB5-22CE6316D1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719"/>
          <a:stretch>
            <a:fillRect/>
          </a:stretch>
        </p:blipFill>
        <p:spPr>
          <a:xfrm>
            <a:off x="320982" y="1444395"/>
            <a:ext cx="4968551" cy="42222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92BEA0-904B-0534-C4FF-B845447F36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932"/>
          <a:stretch>
            <a:fillRect/>
          </a:stretch>
        </p:blipFill>
        <p:spPr>
          <a:xfrm>
            <a:off x="5397812" y="1354012"/>
            <a:ext cx="4582886" cy="43125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258A575-18EA-7A75-5929-C6B3798235CD}"/>
              </a:ext>
            </a:extLst>
          </p:cNvPr>
          <p:cNvSpPr txBox="1"/>
          <p:nvPr/>
        </p:nvSpPr>
        <p:spPr>
          <a:xfrm>
            <a:off x="675958" y="5666606"/>
            <a:ext cx="38213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Factorial interaction line plot comparing mean yields (t/ha) of eight crops across Kharif, Rabi, and Zaid.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F6DC29-F846-CF3B-2DD5-13AB7AC96C99}"/>
              </a:ext>
            </a:extLst>
          </p:cNvPr>
          <p:cNvSpPr txBox="1"/>
          <p:nvPr/>
        </p:nvSpPr>
        <p:spPr>
          <a:xfrm>
            <a:off x="5397812" y="5666605"/>
            <a:ext cx="38213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Bar chart showing the count of severe water consumption outliers by irrigation method.</a:t>
            </a:r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484B5-6E16-12BE-05FB-52B48EC50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515620-2197-8110-62B3-5D7B241D7BF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FA67937-86B4-EA5D-1CA1-A37149892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22A91854-2BA4-2C5A-F8B9-F9801C82F8BE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62556F28-7239-E87D-7FCF-E6E4605E18E2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466028-97C7-BB01-A91E-0F044A890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1076320"/>
            <a:ext cx="9578798" cy="43883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947F25-150A-78FD-6FF5-6A1B3E10644B}"/>
              </a:ext>
            </a:extLst>
          </p:cNvPr>
          <p:cNvSpPr txBox="1"/>
          <p:nvPr/>
        </p:nvSpPr>
        <p:spPr>
          <a:xfrm>
            <a:off x="613753" y="5663682"/>
            <a:ext cx="83415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/>
              <a:t>Top Row:</a:t>
            </a:r>
            <a:r>
              <a:rPr lang="en-IN" dirty="0"/>
              <a:t> Quantile-Quantile (Q-Q) plots for Yield distribution across Kharif, Rabi, and Zaid.</a:t>
            </a:r>
          </a:p>
          <a:p>
            <a:pPr lvl="0"/>
            <a:r>
              <a:rPr lang="en-IN" b="1" dirty="0"/>
              <a:t>Bottom Row:</a:t>
            </a:r>
            <a:r>
              <a:rPr lang="en-IN" dirty="0"/>
              <a:t> Q-Q plots for Net Profit distribution across Kharif, Rabi, and Zaid against theoretical normal quantiles.</a:t>
            </a:r>
          </a:p>
        </p:txBody>
      </p:sp>
    </p:spTree>
    <p:extLst>
      <p:ext uri="{BB962C8B-B14F-4D97-AF65-F5344CB8AC3E}">
        <p14:creationId xmlns:p14="http://schemas.microsoft.com/office/powerpoint/2010/main" val="359138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4AE38F-1BCD-C225-58A1-04C090516C39}"/>
              </a:ext>
            </a:extLst>
          </p:cNvPr>
          <p:cNvSpPr txBox="1"/>
          <p:nvPr/>
        </p:nvSpPr>
        <p:spPr>
          <a:xfrm>
            <a:off x="675956" y="1121989"/>
            <a:ext cx="861733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Machine Learning Prediction:</a:t>
            </a:r>
            <a:r>
              <a:rPr lang="en-IN" sz="2400" dirty="0"/>
              <a:t> Develop models to predict crop yield, profit, and water requirements for upcoming seasons.</a:t>
            </a:r>
          </a:p>
          <a:p>
            <a:pPr lvl="0"/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Crop Recommendation System:</a:t>
            </a:r>
            <a:r>
              <a:rPr lang="en-IN" sz="2400" dirty="0"/>
              <a:t> Recommend suitable crops based on season, soil, rainfall, temperature, and water availability.</a:t>
            </a:r>
          </a:p>
          <a:p>
            <a:pPr lvl="0"/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Smart Irrigation:</a:t>
            </a:r>
            <a:r>
              <a:rPr lang="en-IN" sz="2400" dirty="0"/>
              <a:t> Integrate IoT sensors and real-time weather data to optimize irrigation and reduce water wastage.</a:t>
            </a:r>
          </a:p>
          <a:p>
            <a:pPr lvl="0"/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Real-Time Monitoring:</a:t>
            </a:r>
            <a:r>
              <a:rPr lang="en-IN" sz="2400" dirty="0"/>
              <a:t> Build a dashboard for continuously monitoring agricultural performance and environmental conditions.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766EF-0503-32CA-6E17-6B7294724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745972-8760-7603-A21E-33C9A8AF57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021F5BF-6FAB-1E6F-F73B-F7BCDD696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91FB3B1B-9F53-6391-E645-B126D8D5CF9D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0D57EDA-1250-9955-1401-260BCFD54ACC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C6F7E5-35E7-B54E-F8AC-A17A0B3CEAED}"/>
              </a:ext>
            </a:extLst>
          </p:cNvPr>
          <p:cNvSpPr txBox="1"/>
          <p:nvPr/>
        </p:nvSpPr>
        <p:spPr>
          <a:xfrm>
            <a:off x="692247" y="1275371"/>
            <a:ext cx="875966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Weather Integration:</a:t>
            </a:r>
            <a:r>
              <a:rPr lang="en-IN" sz="2400" dirty="0"/>
              <a:t> Incorporate live weather forecasts to improve seasonal crop planning.</a:t>
            </a:r>
          </a:p>
          <a:p>
            <a:pPr lvl="0"/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Geographical Analysis:</a:t>
            </a:r>
            <a:r>
              <a:rPr lang="en-IN" sz="2400" dirty="0"/>
              <a:t> Integrate GIS and satellite data to provide location-specific agricultural insights.</a:t>
            </a:r>
          </a:p>
          <a:p>
            <a:pPr lvl="0"/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Early Risk Detection:</a:t>
            </a:r>
            <a:r>
              <a:rPr lang="en-IN" sz="2400" dirty="0"/>
              <a:t> Develop systems to identify potential crop losses, water stress, and abnormal agricultural conditions at an early stage.</a:t>
            </a:r>
          </a:p>
          <a:p>
            <a:pPr lvl="0"/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Decision Support System:</a:t>
            </a:r>
            <a:r>
              <a:rPr lang="en-IN" sz="2400" dirty="0"/>
              <a:t> Convert the analytical findings into an intelligent tool that provides farmers and agricultural authorities with actionable recommendations.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11327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7A9FC5-CDE5-59AB-15EE-7A678BF832E5}"/>
              </a:ext>
            </a:extLst>
          </p:cNvPr>
          <p:cNvSpPr txBox="1"/>
          <p:nvPr/>
        </p:nvSpPr>
        <p:spPr>
          <a:xfrm>
            <a:off x="675957" y="1201586"/>
            <a:ext cx="5995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https://github.com/Gnaneswar0906/Seasonal-Agricultural-Performance-Analysis.git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FDF8A9-8008-D396-CFB7-9F31D9C42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534885"/>
            <a:ext cx="8174129" cy="49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551" y="2023106"/>
            <a:ext cx="3722914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823</TotalTime>
  <Words>859</Words>
  <Application>Microsoft Office PowerPoint</Application>
  <PresentationFormat>Widescreen</PresentationFormat>
  <Paragraphs>89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Trebuchet MS</vt:lpstr>
      <vt:lpstr>Wingdings</vt:lpstr>
      <vt:lpstr>Wingdings 3</vt:lpstr>
      <vt:lpstr>Facet</vt:lpstr>
      <vt:lpstr>Project Title - Seasonal Agriculture Performance Analysis </vt:lpstr>
      <vt:lpstr>PROBLEM  STATEMENT</vt:lpstr>
      <vt:lpstr>Project Description  </vt:lpstr>
      <vt:lpstr>Project Description  </vt:lpstr>
      <vt:lpstr>WHO ARE THE END USERS?</vt:lpstr>
      <vt:lpstr>Technology Used</vt:lpstr>
      <vt:lpstr>Technology Used</vt:lpstr>
      <vt:lpstr>Technology Used</vt:lpstr>
      <vt:lpstr>RESULTS </vt:lpstr>
      <vt:lpstr>RESULTS </vt:lpstr>
      <vt:lpstr>RESULTS </vt:lpstr>
      <vt:lpstr>RESULTS </vt:lpstr>
      <vt:lpstr>RESULTS </vt:lpstr>
      <vt:lpstr>RESULTS </vt:lpstr>
      <vt:lpstr>Future scope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Repalle Gnaneswar</cp:lastModifiedBy>
  <cp:revision>129</cp:revision>
  <dcterms:created xsi:type="dcterms:W3CDTF">2021-07-11T13:13:15Z</dcterms:created>
  <dcterms:modified xsi:type="dcterms:W3CDTF">2026-09-10T12:36:11Z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